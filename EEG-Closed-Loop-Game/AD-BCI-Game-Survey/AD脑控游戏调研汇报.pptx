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Microsoft YaHei"/>
              </a:defRPr>
            </a:pPr>
            <a:r>
              <a:t>面向阿尔茨海默患者的</a:t>
            </a:r>
            <a:br/>
            <a:r>
              <a:t>EEG 闭环游戏干预系统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BB"/>
                </a:solidFill>
                <a:latin typeface="Microsoft YaHei"/>
              </a:defRPr>
            </a:pPr>
            <a:r>
              <a:t>— 系统调研汇报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DDEE"/>
                </a:solidFill>
                <a:latin typeface="Microsoft YaHei"/>
              </a:defRPr>
            </a:pPr>
            <a:r>
              <a:t>调研方向：AD 稳定 EEG 指标 · 游戏干预框架 · 闭环控制架构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2026年04月03日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汇报大纲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5486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422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22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研究背景与动机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57400"/>
            <a:ext cx="9144000" cy="5486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08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08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AD 患者稳定 EEG 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9144000" cy="5486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79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94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关键发现：Alpha 双相轨迹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429000"/>
            <a:ext cx="9144000" cy="5486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479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29BF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79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文献中的游戏干预方案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114800"/>
            <a:ext cx="9144000" cy="5486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165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65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游戏设计框架建议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800600"/>
            <a:ext cx="9144000" cy="5486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851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851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闭环控制架构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486400"/>
            <a:ext cx="9144000" cy="54864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53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53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01 研究背景与动机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阿尔茨海默病 (AD)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全球预计 2050 年影响 1.315 亿人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经济负担：全球 $9.1 万亿/年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病理机制：Aβ 沉积 → tau 过磷酸化 → 突触丧失 → 神经退行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临床前期病变可提前 20 年开始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目前无法治愈，干预越早效果越好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为什么用 EEG + 游戏？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EEG：非侵入、低成本、毫秒级时间分辨率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专家共识推荐 rsEEG 用于 AD 临床试验 (Babiloni 2021)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游戏化：提高患者依从性和参与度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闭环：实时神经反馈，个性化干预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• 文献中已有 5+ 种闭环游戏报告有效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核心参考文献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📄 文献 1 — 专家共识 (Babiloni et al. 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Alzheimers &amp; Dementia, IF≈14, 60+ 专家联合署名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推荐 rsEEG 指标用于 AD 临床试验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核心：α 功率/峰频 + δ/θ 功率 + 连接性(DTF/PLI/LLC)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标准化记录与分析流程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0352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📄 文献 2 — 系统综述 (Sohrabpour et al. 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Alzheimers &amp; Dementia, 49 篇多模态研究系统综述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EEG/MEG + PET/CSF 蛋白标志物联合分析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核心发现：α 振荡双相轨迹（先升后降）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频段-病理特异性：δ/θ↔Aβ, α/β↔Aβ+tau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881360" cy="25603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📚 闭环游戏相关文献 (7篇)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[Cancer 2024] Prinsloo — BCI 游戏治疗 CIPN，双盲 RCT，d=1.07</a:t>
            </a:r>
          </a:p>
          <a:p>
            <a:pPr>
              <a:spcAft>
                <a:spcPts val="4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[Front Hum Neurosci 2019] Arvaneh — P300 自适应 BCI 注意力训练，30min 即见效</a:t>
            </a:r>
          </a:p>
          <a:p>
            <a:pPr>
              <a:spcAft>
                <a:spcPts val="4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[J Healthc Eng 2021] Wang — 3 种严肃游戏 (拔河/小鸟/果冻)，5 级注意力闭环</a:t>
            </a:r>
          </a:p>
          <a:p>
            <a:pPr>
              <a:spcAft>
                <a:spcPts val="4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[J Neuroeng Rehabil 2026] Yan — 平板 Go/NoGo + 单通道 EEG 神经反馈 (ADHD)</a:t>
            </a:r>
          </a:p>
          <a:p>
            <a:pPr>
              <a:spcAft>
                <a:spcPts val="4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[Neuroscience 2026] Yang — Unity SkiSport 滑雪游戏 + XGBoost 自适应难度 (ADHD)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96"/>
                </a:solidFill>
                <a:latin typeface="Microsoft YaHei"/>
              </a:defRPr>
            </a:pPr>
            <a:r>
              <a:t>02 AD 患者稳定 EEG 指标 — 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036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" y="133096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80160"/>
            <a:ext cx="271780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8080" y="133096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280160"/>
            <a:ext cx="107188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91280" y="133096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80160"/>
            <a:ext cx="134620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8560" y="133096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共识级别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116332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0160" y="133096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效应量(d)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1280160"/>
            <a:ext cx="88900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8880" y="133096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实时性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107188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280" y="133096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808480"/>
            <a:ext cx="34036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320" y="185928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1808480"/>
            <a:ext cx="27178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8080" y="185928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频谱慢化 (α↓+δ/θ↑)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180848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1280" y="185928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静息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808480"/>
            <a:ext cx="13462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8560" y="185928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808480"/>
            <a:ext cx="116332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0160" y="185928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0.8-1.5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1808480"/>
            <a:ext cx="8890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8880" y="185928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⚡即时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180848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3280" y="185928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Microsoft YaHei"/>
              </a:defRPr>
            </a:pPr>
            <a:r>
              <a:t>✅ 确定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2311400"/>
            <a:ext cx="34036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320" y="236220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2311400"/>
            <a:ext cx="27178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8080" y="236220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SPR = (α+β)/(δ+θ)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231140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91280" y="236220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静息+任务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2311400"/>
            <a:ext cx="13462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8560" y="236220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311400"/>
            <a:ext cx="116332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0160" y="236220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1.0-1.8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2311400"/>
            <a:ext cx="8890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8880" y="236220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⚡即时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231140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3280" y="236220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Microsoft YaHei"/>
              </a:defRPr>
            </a:pPr>
            <a:r>
              <a:t>✅ 确定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2814320"/>
            <a:ext cx="34036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2320" y="286512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2814320"/>
            <a:ext cx="27178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8080" y="286512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Alpha 峰频率↓ (APF)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0" y="281432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91280" y="286512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静息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37760" y="2814320"/>
            <a:ext cx="13462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8560" y="286512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2814320"/>
            <a:ext cx="116332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0160" y="286512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0.9-1.3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98080" y="2814320"/>
            <a:ext cx="8890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8880" y="286512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⚡即时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0" y="281432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3280" y="286512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Microsoft YaHei"/>
              </a:defRPr>
            </a:pPr>
            <a:r>
              <a:t>✅ 确定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3317240"/>
            <a:ext cx="34036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2320" y="336804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97280" y="3317240"/>
            <a:ext cx="27178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8080" y="336804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P300 潜伏期↑ 振幅↓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40480" y="331724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91280" y="336804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37760" y="3317240"/>
            <a:ext cx="13462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88560" y="336804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09360" y="3317240"/>
            <a:ext cx="116332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60160" y="336804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1.0-1.5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98080" y="3317240"/>
            <a:ext cx="8890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48880" y="336804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⏱1-3s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331724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3280" y="336804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Microsoft YaHei"/>
              </a:defRPr>
            </a:pPr>
            <a:r>
              <a:t>✅ 确定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" y="3820160"/>
            <a:ext cx="34036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2320" y="387096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97280" y="3820160"/>
            <a:ext cx="27178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48080" y="387096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Beta 功率↓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40480" y="382016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91280" y="387096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静息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37760" y="3820160"/>
            <a:ext cx="13462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88560" y="387096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09360" y="3820160"/>
            <a:ext cx="116332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60160" y="387096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0.7-1.0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498080" y="3820160"/>
            <a:ext cx="8890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48880" y="387096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⚡即时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12480" y="382016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63280" y="387096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Microsoft YaHei"/>
              </a:defRPr>
            </a:pPr>
            <a:r>
              <a:t>✅ 确定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4323080"/>
            <a:ext cx="34036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2320" y="437388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7280" y="4323080"/>
            <a:ext cx="27178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48080" y="437388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α/β 功能连接↓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840480" y="432308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91280" y="437388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静息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937760" y="4323080"/>
            <a:ext cx="13462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88560" y="437388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09360" y="4323080"/>
            <a:ext cx="116332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0160" y="437388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0.6-1.0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498080" y="4323080"/>
            <a:ext cx="8890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48880" y="437388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⏱2-4s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412480" y="432308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463280" y="437388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🔶 大概率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31520" y="4826000"/>
            <a:ext cx="34036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2320" y="487680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97280" y="4826000"/>
            <a:ext cx="27178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48080" y="487680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Delta 功率↑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840480" y="482600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891280" y="487680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静息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937760" y="4826000"/>
            <a:ext cx="13462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88560" y="487680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309360" y="4826000"/>
            <a:ext cx="116332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60160" y="487680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0.5-1.0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498080" y="4826000"/>
            <a:ext cx="88900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548880" y="487680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⚡即时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412480" y="4826000"/>
            <a:ext cx="1071880" cy="477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63280" y="487680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🔶 大概率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31520" y="5328920"/>
            <a:ext cx="34036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82320" y="5379720"/>
            <a:ext cx="26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97280" y="5328920"/>
            <a:ext cx="27178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48080" y="5379720"/>
            <a:ext cx="264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微状态 C↓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840480" y="532892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891280" y="537972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静息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937760" y="5328920"/>
            <a:ext cx="13462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988560" y="5379720"/>
            <a:ext cx="127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309360" y="5328920"/>
            <a:ext cx="116332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60160" y="5379720"/>
            <a:ext cx="108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98080" y="5328920"/>
            <a:ext cx="88900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548880" y="5379720"/>
            <a:ext cx="81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⏱阶段性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412480" y="5328920"/>
            <a:ext cx="1071880" cy="477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463280" y="5379720"/>
            <a:ext cx="99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🔶 大概率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Microsoft YaHei"/>
              </a:defRPr>
            </a:pPr>
            <a:r>
              <a:t>指标 1: 频谱慢化 — 最经典的 AD EEG 标志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现象与机制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后部 Alpha (8-12Hz) 功率 显著降低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Delta (&lt;4Hz) / Theta (4-8Hz) 功率 广泛增加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整体频谱向慢波方向偏移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机制 (Babiloni 2021 生理模型):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正常：皮层-丘脑-基底前脑-脑干网络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    → 主导 Alpha 节律 → 调节唤醒/意识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AD：胆碱能退化 → ACh↓ → 低频活动↑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    丘脑-皮层 "断连模式"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    → Alpha 去同步化 + Delta/Theta 异常增强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数据支撑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文献支持：40+ 年持续复现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- Sohrabpour 2025: 10+ 篇独立报告 δ/θ↑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- Sohrabpour 2025: 8+ 篇独立报告 α↓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- Babiloni 2021: 专家共识一级推荐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效应量：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- Alpha 下降: Cohen's d = 0.8-1.5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- Delta 增加: Cohen's d = 0.8-1.2 (中晚期)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认知关联：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- δ/θ 功率 ↔ MMSE 负相关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- α 功率 ↔ MMSE 正相关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关键通道：P3, P4, O1, O2, Pz (后部)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Microsoft YaHei"/>
              </a:defRPr>
            </a:pPr>
            <a:r>
              <a:t>指标 2-3: SPR 综合比值 + Alpha 峰频率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SPR = (α+β) / (δ+θ)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整合四个频段的综合指标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效应量 d = 1.0-1.8（比单频段更鲁棒）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Aβ+ aMCI 中显著降低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⭐ 核心优势：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避免了 Alpha 双相轨迹的陷阱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即使 α 代偿性↑，若 δ/θ 也在↑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SPR 仍会下降 → 更可靠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POSI (病理性振荡慢化指数)：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考虑年龄匹配健康对照的偏移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与认知评分强负相关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→ 推荐作为闭环系统的主控变量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Alpha 峰频率 (APF)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正常人：~10-10.5 Hz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MCI 患者：~9.5 Hz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AD 患者：~8-9 Hz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⭐ 核心优势：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即使 α 功率代偿性升高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APF 仍然下移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→ 比 α 功率更稳健的早期指标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稳定性：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test-retest ICC = 0.85-0.92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是 EEG 中最稳定的个体特征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分子关联：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与 PET Aβ/tau 负相关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与 CSF Aβ42 正相关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Microsoft YaHei"/>
              </a:defRPr>
            </a:pPr>
            <a:r>
              <a:t>指标 4-5: P300 + Beta 功率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P300 潜伏期延长 + 振幅降低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任务态指标（需 oddball 范式）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潜伏期延长 30-80ms，振幅降低 2-5μV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效应量：潜伏期 d=1.0-1.5, 振幅 d=0.8-1.2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认知意义：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直接反映 "注意力分配/目标检测" 能力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与工作记忆、反应速度强相关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🎮 与游戏的天然联系：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P300 = "检测到新异刺激" 的脑反应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游戏中嵌入目标检测任务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（找不同、捕捉特定物品）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→ 直接诱发和监测 P300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→ P300 改善 = 通关/升级条件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Beta 功率降低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静息态，枕/颞/顶区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Beta (12-30Hz) 显著降低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• 效应量：d = 0.7-1.0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AD 特异性（关键）：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SNAP 患者 Beta 反而增加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AD 患者 Beta 降低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→ 可用于 AD vs 非 AD 鉴别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分子关联：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与 Aβ 正相关/倒 U 型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与 tau 负相关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🎮 游戏映射：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Beta ↔ 主动认知参与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→ 作为 "参与度" 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F43"/>
                </a:solidFill>
                <a:latin typeface="Microsoft YaHei"/>
              </a:defRPr>
            </a:pPr>
            <a:r>
              <a:t>03 关键发现：Alpha 双相轨迹 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Sohrabpour et al. (2025) 的核心突破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Alpha 振荡在 AD 全病程中呈倒 U 型（双相）轨迹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ourier New"/>
              </a:defRPr>
            </a:pPr>
            <a:r>
              <a:t>α 活动</a:t>
            </a:r>
            <a:br/>
            <a:r>
              <a:t>  ↑         ╱╲</a:t>
            </a:r>
            <a:br/>
            <a:r>
              <a:t>  │       ╱    ╲</a:t>
            </a:r>
            <a:br/>
            <a:r>
              <a:t>  │     ╱        ╲</a:t>
            </a:r>
            <a:br/>
            <a:r>
              <a:t>  │───╱── 基线 ──  ╲───────────</a:t>
            </a:r>
            <a:br/>
            <a:r>
              <a:t>  │                    ╲</a:t>
            </a:r>
            <a:br/>
            <a:r>
              <a:t>  ↓                      ╲________</a:t>
            </a:r>
            <a:br/>
            <a:r>
              <a:t>      临床前(Aβ+)   MCI    轻度AD   中重度AD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25603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机制解释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早期：Aβ 损伤 GABA 能抑制性中间神经元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→ E/I 失衡 → 皮层过度兴奋 → α 代偿↑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中期：tau 病理加速 → 突触丧失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→ 神经退行 → α 开始下降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晚期：广泛神经元丢失 → α 严重衰减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303520" cy="25603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⚠ 对闭环设计的影响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5720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不能简单用 "α↓ = AD 恶化" 做闭环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MCI/早期 AD 患者 α 可能正常甚至偏高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→ 解决方案：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1. 用 SPR 代替单一 α 功率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2. 用 APF（不受双相影响）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3. 分期考虑基线差异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Microsoft YaHei"/>
              </a:defRPr>
            </a:pPr>
            <a:r>
              <a:t>大概率指标（辅助评估）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α/β 功能连接↓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AEC/Coherence/PLV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d = 0.6-1.0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多种算法方向一致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⭐ α/β AEC↓ 出现在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认知下降之前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→ 早期预警能力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适合：阶段性评估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188720"/>
            <a:ext cx="34747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39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Delta 功率↑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18288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AD 特异性标志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d = 0.5-1.0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SNAP 中 δ 反而↓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→ AD 鉴别价值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与 CSF Aβ42 负相关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适合：安全守护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δ过多 = 嗜睡 → 暂停游戏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1188720"/>
            <a:ext cx="347472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8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Microsoft YaHei"/>
              </a:defRPr>
            </a:pPr>
            <a:r>
              <a:t>微状态变化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8" y="18288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微状态 A/B 出现率↑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微状态 C/D 出现率↓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微状态 C duration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与 MMSE/MoCA 正相关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与 fMRI 发现高度一致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适合：会话前后对比评估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29BFE"/>
                </a:solidFill>
                <a:latin typeface="Microsoft YaHei"/>
              </a:defRPr>
            </a:pPr>
            <a:r>
              <a:t>04 文献中的游戏干预方案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34920" cy="4572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" y="1239520"/>
            <a:ext cx="245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游戏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1620520" cy="4572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42640" y="1239520"/>
            <a:ext cx="154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来源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188720"/>
            <a:ext cx="1803400" cy="4572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8560" y="1239520"/>
            <a:ext cx="172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目标人群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188720"/>
            <a:ext cx="2169160" cy="4572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7360" y="1239520"/>
            <a:ext cx="209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EEG 指标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188720"/>
            <a:ext cx="2352040" cy="4572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11920" y="1239520"/>
            <a:ext cx="227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91640"/>
            <a:ext cx="253492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720" y="1767840"/>
            <a:ext cx="240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EEG 控制视频游戏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691640"/>
            <a:ext cx="162052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8040" y="1767840"/>
            <a:ext cx="149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Prinsloo 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691640"/>
            <a:ext cx="180340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3960" y="1767840"/>
            <a:ext cx="167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CIPN 疼痛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691640"/>
            <a:ext cx="216916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2760" y="1767840"/>
            <a:ext cx="204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EEG 全频段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691640"/>
            <a:ext cx="235204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7320" y="1767840"/>
            <a:ext cx="222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RCT 双盲</a:t>
            </a:r>
            <a:br/>
            <a:r>
              <a:t>d=1.07 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606040"/>
            <a:ext cx="253492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" y="2682240"/>
            <a:ext cx="240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P300 自适应训练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606040"/>
            <a:ext cx="162052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8040" y="2682240"/>
            <a:ext cx="149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Arvaneh 2019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2606040"/>
            <a:ext cx="180340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3960" y="2682240"/>
            <a:ext cx="167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健康人注意力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2606040"/>
            <a:ext cx="216916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2760" y="2682240"/>
            <a:ext cx="204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P300 能量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2606040"/>
            <a:ext cx="235204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7320" y="2682240"/>
            <a:ext cx="222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30min 见效</a:t>
            </a:r>
            <a:br/>
            <a:r>
              <a:t>P300↑ Alpha↓ 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520440"/>
            <a:ext cx="253492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720" y="3596640"/>
            <a:ext cx="240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拔河/小鸟/果冻 ×3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3520440"/>
            <a:ext cx="162052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8040" y="3596640"/>
            <a:ext cx="149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Wang 2021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3520440"/>
            <a:ext cx="180340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3960" y="3596640"/>
            <a:ext cx="167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健康人注意力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3520440"/>
            <a:ext cx="216916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42760" y="3596640"/>
            <a:ext cx="204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5级注意力(IRF)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3520440"/>
            <a:ext cx="235204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37320" y="3596640"/>
            <a:ext cx="222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Schulte</a:t>
            </a:r>
            <a:br/>
            <a:r>
              <a:t>p&lt;0.05 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434840"/>
            <a:ext cx="253492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" y="4511040"/>
            <a:ext cx="240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平板 Go/NoGo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4434840"/>
            <a:ext cx="162052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68040" y="4511040"/>
            <a:ext cx="149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Yan 2026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0" y="4434840"/>
            <a:ext cx="180340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13960" y="4511040"/>
            <a:ext cx="167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ADHD 儿童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0" y="4434840"/>
            <a:ext cx="216916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42760" y="4511040"/>
            <a:ext cx="204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单通道额叶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20" y="4434840"/>
            <a:ext cx="2352040" cy="889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37320" y="4511040"/>
            <a:ext cx="222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NFb &gt; 纯行为</a:t>
            </a:r>
            <a:br/>
            <a:r>
              <a:t>1月干预 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349240"/>
            <a:ext cx="253492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720" y="5425440"/>
            <a:ext cx="240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SkiSport 滑雪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91840" y="5349240"/>
            <a:ext cx="162052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8040" y="5425440"/>
            <a:ext cx="149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Yang 2026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5349240"/>
            <a:ext cx="180340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13960" y="5425440"/>
            <a:ext cx="167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ADHD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66560" y="5349240"/>
            <a:ext cx="216916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42760" y="5425440"/>
            <a:ext cx="204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eSense→XGBoost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20" y="5349240"/>
            <a:ext cx="2352040" cy="889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37320" y="5425440"/>
            <a:ext cx="222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+21.5%</a:t>
            </a:r>
            <a:br/>
            <a:r>
              <a:t>Unity 开发 ✅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  <a:latin typeface="Microsoft YaHei"/>
              </a:defRPr>
            </a:pPr>
            <a:r>
              <a:t>⚠ 5/5 游戏干预均报告有效，但：① 无一直接针对 AD 患者 ② 样本量均较小(10-50人) ③ Yang(2026) 存在方法学问题(信息泄漏)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05 游戏设计框架建议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7432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🏠 记忆花园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目标: 情景记忆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原型: 配对翻牌 / 物品记忆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EEG: P300 + SPR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188720"/>
            <a:ext cx="27432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280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🎵 节奏之路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目标: 注意力/处理速度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原型: 节奏/音乐追踪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EEG: Alpha + APF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27432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🧩 模式拼图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目标: 执行功能/工作记忆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原型: 模式匹配 / 序列记忆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EEG: SPR + 连接性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188720"/>
            <a:ext cx="27432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280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29BFE"/>
                </a:solidFill>
                <a:latin typeface="Microsoft YaHei"/>
              </a:defRPr>
            </a:pPr>
            <a:r>
              <a:t>🌊 放松港湾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82880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目标: 情绪调节/休息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原型: 冥想 / 呼吸引导</a:t>
            </a:r>
          </a:p>
          <a:p>
            <a:pPr>
              <a:spcAft>
                <a:spcPts val="800"/>
              </a:spcAft>
              <a:defRPr sz="1300">
                <a:solidFill>
                  <a:srgbClr val="DDDDEE"/>
                </a:solidFill>
                <a:latin typeface="Microsoft YaHei"/>
              </a:defRPr>
            </a:pPr>
            <a:r>
              <a:t>EEG: Alpha + Delta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游戏可调参数空间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难度维度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Microsoft YaHei"/>
              </a:defRPr>
            </a:pPr>
            <a:r>
              <a:t>项目数量 · 时间压力 · 干扰物 · 相似度 · 序列长度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38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感官维度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138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Microsoft YaHei"/>
              </a:defRPr>
            </a:pPr>
            <a:r>
              <a:t>视觉对比度 · 音量 · 动画速度 · 颜色饱和度 · 字体大小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229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反馈维度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5229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Microsoft YaHei"/>
              </a:defRPr>
            </a:pPr>
            <a:r>
              <a:t>奖励频率 · 奖励类型 · 提示等级 · 错误反馈强度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07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时间维度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9070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EE"/>
                </a:solidFill>
                <a:latin typeface="Microsoft YaHei"/>
              </a:defRPr>
            </a:pPr>
            <a:r>
              <a:t>单次时长(5-20min) · 休息间隔 · 总训练时长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96"/>
                </a:solidFill>
                <a:latin typeface="Microsoft YaHei"/>
              </a:defRPr>
            </a:pPr>
            <a:r>
              <a:t>06 闭环控制架构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25603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系统数据流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ourier New"/>
              </a:defRPr>
            </a:pPr>
            <a:r>
              <a:t>EEG 硬件 ──(BrainFlow/LSL)──▶ Python 处理端 ──(LSL/UDP)──▶ Unity 游戏</a:t>
            </a:r>
            <a:br/>
            <a:r>
              <a:t>                                    │                              │</a:t>
            </a:r>
            <a:br/>
            <a:r>
              <a:t>                              特征提取 (2s窗口)               参数更新</a:t>
            </a:r>
            <a:br/>
            <a:r>
              <a:t>                              状态估计                        行为数据</a:t>
            </a:r>
            <a:br/>
            <a:r>
              <a:t>                              控制决策                           │</a:t>
            </a:r>
            <a:br/>
            <a:r>
              <a:t>                                    │                     ◀──────┘</a:t>
            </a:r>
            <a:br/>
            <a:r>
              <a:t>                              数据存储 (EDF+ / SQLite)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三层控制策略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9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第一层：实时安全守护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4399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0.5s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414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Microsoft YaHei"/>
              </a:defRPr>
            </a:pPr>
            <a:r>
              <a:t>Delta 过高→暂停; 参与度过低→注意力唤醒; 疲劳→休息引导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17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第二层：自适应难度调节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217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5-10s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191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Microsoft YaHei"/>
              </a:defRPr>
            </a:pPr>
            <a:r>
              <a:t>SPR 为主控变量，PID 控制维持 Flow Zone</a:t>
            </a:r>
            <a:br/>
            <a:r>
              <a:t>目标：TAR/SPR 在个体校准的"最优挑战区间"内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4360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94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第三层：跨会话个性化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994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Microsoft YaHei"/>
              </a:defRPr>
            </a:pPr>
            <a:r>
              <a:t>天/周级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969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EE"/>
                </a:solidFill>
                <a:latin typeface="Microsoft YaHei"/>
              </a:defRPr>
            </a:pPr>
            <a:r>
              <a:t>追踪长期进步趋势，调整训练计划</a:t>
            </a:r>
            <a:br/>
            <a:r>
              <a:t>检测平台期→切换游戏；APF 回升→提升目标区间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Microsoft YaHei"/>
              </a:defRPr>
            </a:pPr>
            <a:r>
              <a:t>闭环系统推荐指标组合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66160" cy="5303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2FF"/>
                </a:solidFill>
                <a:latin typeface="Microsoft YaHei"/>
              </a:defRPr>
            </a:pPr>
            <a:r>
              <a:t>⚡ 实时闭环 (每2s)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1. SPR = (α+β)/(δ+θ)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综合认知效率，主控难度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2. APF (Alpha 峰频率)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个体化校准 + 长期追踪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3. Delta 功率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安全守护(疲劳/嗜睡)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566160" cy="5303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E696"/>
                </a:solidFill>
                <a:latin typeface="Microsoft YaHei"/>
              </a:defRPr>
            </a:pPr>
            <a:r>
              <a:t>🎮 任务嵌入 (游戏内)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4. P300 振幅/潜伏期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目标检测任务表现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通关/升级条件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5. 行为指标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反应时间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准确率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操作模式多样性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566160" cy="530352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9F43"/>
                </a:solidFill>
                <a:latin typeface="Microsoft YaHei"/>
              </a:defRPr>
            </a:pPr>
            <a:r>
              <a:t>📊 阶段评估 (会话前后)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6. Beta 功率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参与度/认知活跃度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7. α/β AEC (连接性)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网络完整性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可能是最早的改善信号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8. 微状态 C</a:t>
            </a:r>
          </a:p>
          <a:p>
            <a:pPr>
              <a:spcAft>
                <a:spcPts val="800"/>
              </a:spcAft>
              <a:defRPr sz="1400">
                <a:solidFill>
                  <a:srgbClr val="DDDDEE"/>
                </a:solidFill>
                <a:latin typeface="Microsoft YaHei"/>
              </a:defRPr>
            </a:pPr>
            <a:r>
              <a:t>   辅助疗效评估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推荐技术栈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64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游戏引擎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6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Unity (C#)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64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跨平台、生态成熟、EEG SDK 对接方便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7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EEG 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87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OpenBCI Cyton 8ch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7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开源、可定制、研究级信号质量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10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数据流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10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Lab Streaming Layer (LSL)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10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神经科学标准，时间同步精确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33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Microsoft YaHei"/>
              </a:defRPr>
            </a:pPr>
            <a:r>
              <a:t>信号处理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33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Python (BrainFlow + MNE)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33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跨设备统一 API + 成熟特征提取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56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控制策略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56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PID →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56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先规则积累数据，后 ML 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698480" cy="713232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79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数据存储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379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EDF+ (原始) +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79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标准格式 + 轻量分析数据库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F43"/>
                </a:solidFill>
                <a:latin typeface="Microsoft YaHei"/>
              </a:defRPr>
            </a:pPr>
            <a:r>
              <a:t>07 下一步计划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56616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近期 (1-2周)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补充 AD/MCI 游戏干预的专项文献调研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确定目标人群（MCI? 轻度AD? 中度AD?）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选定 EEG 设备（OpenBCI / Emotiv / NeuroSky）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搭建 Unity + Python + LSL 基础通信框架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56616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中期 (1-2月)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原型开发：先做 1 个子游戏（建议：记忆花园）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实现 SPR + APF + Delta 的实时提取 Pipeline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实现 PID 自适应难度控制器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健康人测试验证闭环功能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566160" cy="5029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远期 (3-6月)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9202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MCI/AD 患者初步测试（需伦理审查）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完善多游戏模块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积累数据后切 ML 难度预测</a:t>
            </a:r>
          </a:p>
          <a:p>
            <a:pPr>
              <a:spcAft>
                <a:spcPts val="1200"/>
              </a:spcAft>
              <a:defRPr sz="1500">
                <a:solidFill>
                  <a:srgbClr val="DDDDEE"/>
                </a:solidFill>
                <a:latin typeface="Microsoft YaHei"/>
              </a:defRPr>
            </a:pPr>
            <a:r>
              <a:t>• 论文撰写（框架已搭好）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BB"/>
                </a:solidFill>
                <a:latin typeface="Microsoft YaHei"/>
              </a:defRPr>
            </a:pPr>
            <a:r>
              <a:t>面向 AD 患者的 EEG 闭环游戏干预系统 · 调研汇报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EE"/>
                </a:solidFill>
                <a:latin typeface="Microsoft YaHei"/>
              </a:defRPr>
            </a:pPr>
            <a:r>
              <a:t>核心文献: Babiloni et al. 2021 (专家共识) + Sohrabpour et al. 2025 (系统综述) + 7篇闭环游戏文献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